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51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594" y="114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2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TextEdit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F7021451-1387-4CA6-816F-3879F97B5CBC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jpe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Relationship Id="rId7" Type="http://schemas.openxmlformats.org/officeDocument/2006/relationships/image" Target="../media/image17.png"  /><Relationship Id="rId8" Type="http://schemas.openxmlformats.org/officeDocument/2006/relationships/image" Target="../media/image18.jpe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19.png"  /><Relationship Id="rId4" Type="http://schemas.openxmlformats.org/officeDocument/2006/relationships/image" Target="../media/image20.png"  /><Relationship Id="rId5" Type="http://schemas.openxmlformats.org/officeDocument/2006/relationships/image" Target="../media/image21.png"  /><Relationship Id="rId6" Type="http://schemas.openxmlformats.org/officeDocument/2006/relationships/image" Target="../media/image2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6.xml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Relationship Id="rId5" Type="http://schemas.openxmlformats.org/officeDocument/2006/relationships/image" Target="../media/image25.png"  /><Relationship Id="rId6" Type="http://schemas.openxmlformats.org/officeDocument/2006/relationships/image" Target="../media/image26.png"  /><Relationship Id="rId7" Type="http://schemas.openxmlformats.org/officeDocument/2006/relationships/image" Target="../media/image27.png"  /><Relationship Id="rId8" Type="http://schemas.openxmlformats.org/officeDocument/2006/relationships/image" Target="../media/image28.png"  /><Relationship Id="rId9" Type="http://schemas.openxmlformats.org/officeDocument/2006/relationships/image" Target="../media/image29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image" Target="../media/image36.png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30.png"  /><Relationship Id="rId4" Type="http://schemas.openxmlformats.org/officeDocument/2006/relationships/image" Target="../media/image31.png"  /><Relationship Id="rId5" Type="http://schemas.openxmlformats.org/officeDocument/2006/relationships/image" Target="../media/image32.png"  /><Relationship Id="rId6" Type="http://schemas.openxmlformats.org/officeDocument/2006/relationships/image" Target="../media/image3.png"  /><Relationship Id="rId7" Type="http://schemas.openxmlformats.org/officeDocument/2006/relationships/image" Target="../media/image33.png"  /><Relationship Id="rId8" Type="http://schemas.openxmlformats.org/officeDocument/2006/relationships/image" Target="../media/image34.png"  /><Relationship Id="rId9" Type="http://schemas.openxmlformats.org/officeDocument/2006/relationships/image" Target="../media/image3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37.png"  /><Relationship Id="rId4" Type="http://schemas.openxmlformats.org/officeDocument/2006/relationships/image" Target="../media/image38.png"  /><Relationship Id="rId5" Type="http://schemas.openxmlformats.org/officeDocument/2006/relationships/image" Target="../media/image39.png"  /><Relationship Id="rId6" Type="http://schemas.openxmlformats.org/officeDocument/2006/relationships/image" Target="../media/image40.png"  /><Relationship Id="rId7" Type="http://schemas.openxmlformats.org/officeDocument/2006/relationships/image" Target="../media/image41.png"  /><Relationship Id="rId8" Type="http://schemas.openxmlformats.org/officeDocument/2006/relationships/image" Target="../media/image42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43.png"  /><Relationship Id="rId4" Type="http://schemas.openxmlformats.org/officeDocument/2006/relationships/image" Target="../media/image44.png"  /><Relationship Id="rId5" Type="http://schemas.openxmlformats.org/officeDocument/2006/relationships/image" Target="../media/image45.png"  /><Relationship Id="rId6" Type="http://schemas.openxmlformats.org/officeDocument/2006/relationships/image" Target="../media/image46.png"  /><Relationship Id="rId7" Type="http://schemas.openxmlformats.org/officeDocument/2006/relationships/image" Target="../media/image47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10" Type="http://schemas.openxmlformats.org/officeDocument/2006/relationships/image" Target="../media/image5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8.png"  /><Relationship Id="rId4" Type="http://schemas.openxmlformats.org/officeDocument/2006/relationships/image" Target="../media/image49.png"  /><Relationship Id="rId5" Type="http://schemas.openxmlformats.org/officeDocument/2006/relationships/image" Target="../media/image50.png"  /><Relationship Id="rId6" Type="http://schemas.openxmlformats.org/officeDocument/2006/relationships/image" Target="../media/image51.png"  /><Relationship Id="rId7" Type="http://schemas.openxmlformats.org/officeDocument/2006/relationships/image" Target="../media/image52.png"  /><Relationship Id="rId8" Type="http://schemas.openxmlformats.org/officeDocument/2006/relationships/image" Target="../media/image53.png"  /><Relationship Id="rId9" Type="http://schemas.openxmlformats.org/officeDocument/2006/relationships/image" Target="../media/image54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 rotWithShape="1">
          <a:blip r:embed="rId3"/>
          <a:srcRect l="5560" r="556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Shape 1"/>
          <p:cNvSpPr/>
          <p:nvPr/>
        </p:nvSpPr>
        <p:spPr>
          <a:xfrm>
            <a:off x="1819656" y="2391156"/>
            <a:ext cx="8553298" cy="2076602"/>
          </a:xfrm>
          <a:prstGeom prst="roundRect">
            <a:avLst>
              <a:gd name="adj" fmla="val 2020"/>
            </a:avLst>
          </a:prstGeom>
          <a:solidFill>
            <a:srgbClr val="000000">
              <a:alpha val="40000"/>
            </a:srgbClr>
          </a:solidFill>
          <a:ln/>
          <a:effectLst>
            <a:outerShdw blurRad="292100" dist="12700" dir="162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Text 2"/>
          <p:cNvSpPr txBox="1"/>
          <p:nvPr/>
        </p:nvSpPr>
        <p:spPr>
          <a:xfrm>
            <a:off x="2200961" y="2590495"/>
            <a:ext cx="8134502" cy="66751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36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충청북도 토지 이용 분석 프로젝트 계획서</a:t>
            </a:r>
            <a:endParaRPr lang="en-US" sz="3600"/>
          </a:p>
        </p:txBody>
      </p:sp>
      <p:sp>
        <p:nvSpPr>
          <p:cNvPr id="6" name="Shape 3"/>
          <p:cNvSpPr/>
          <p:nvPr/>
        </p:nvSpPr>
        <p:spPr>
          <a:xfrm>
            <a:off x="5619902" y="3457346"/>
            <a:ext cx="952805" cy="38405"/>
          </a:xfrm>
          <a:prstGeom prst="rect">
            <a:avLst/>
          </a:prstGeom>
          <a:solidFill>
            <a:srgbClr val="22c55e"/>
          </a:solidFill>
          <a:ln/>
          <a:effectLst>
            <a:outerShdw blurRad="38100" dist="25400" dir="5400000" algn="bl" rotWithShape="0">
              <a:srgbClr val="000000">
                <a:alpha val="50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3135478" y="3696005"/>
            <a:ext cx="5953658" cy="38130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21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지적통계 기반 공간 특성 분석</a:t>
            </a:r>
            <a:endParaRPr lang="en-US" sz="21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  <a:p>
            <a:pPr marL="0" indent="0" algn="ctr">
              <a:buNone/>
              <a:defRPr/>
            </a:pPr>
            <a:r>
              <a:rPr lang="ko-KR" altLang="en-US" sz="2100" b="1">
                <a:solidFill>
                  <a:srgbClr val="ffffff"/>
                </a:solidFill>
                <a:latin typeface="Noto Sans KR"/>
                <a:ea typeface="Noto Sans KR"/>
              </a:rPr>
              <a:t>팀명</a:t>
            </a:r>
            <a:r>
              <a:rPr lang="en-US" altLang="ko-KR" sz="2100" b="1">
                <a:solidFill>
                  <a:srgbClr val="ffffff"/>
                </a:solidFill>
                <a:latin typeface="Noto Sans KR"/>
                <a:ea typeface="Noto Sans KR"/>
              </a:rPr>
              <a:t>: </a:t>
            </a:r>
            <a:r>
              <a:rPr lang="ko-KR" altLang="en-US" sz="2100" b="1">
                <a:solidFill>
                  <a:srgbClr val="ffffff"/>
                </a:solidFill>
                <a:latin typeface="Noto Sans KR"/>
                <a:ea typeface="Noto Sans KR"/>
              </a:rPr>
              <a:t>테라마인드</a:t>
            </a:r>
            <a:endParaRPr lang="en-US" sz="2100"/>
          </a:p>
        </p:txBody>
      </p:sp>
      <p:sp>
        <p:nvSpPr>
          <p:cNvPr id="8" name="Shape 5"/>
          <p:cNvSpPr/>
          <p:nvPr/>
        </p:nvSpPr>
        <p:spPr>
          <a:xfrm>
            <a:off x="0" y="5343754"/>
            <a:ext cx="12191695" cy="942746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  <a:effectLst>
            <a:outerShdw blurRad="139700" dist="50800" dir="162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4660697" y="5533949"/>
            <a:ext cx="3005633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ko-KR" altLang="en-US"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어프렌티스 프로젝트</a:t>
            </a:r>
            <a:r>
              <a:rPr lang="en-US"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- 기말 프로젝트</a:t>
            </a:r>
            <a:endParaRPr lang="en-US" sz="1300"/>
          </a:p>
        </p:txBody>
      </p:sp>
      <p:sp>
        <p:nvSpPr>
          <p:cNvPr id="10" name="Text 7"/>
          <p:cNvSpPr txBox="1"/>
          <p:nvPr/>
        </p:nvSpPr>
        <p:spPr>
          <a:xfrm>
            <a:off x="4546397" y="5838444"/>
            <a:ext cx="4999417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발표일: 2025년 11월 | 팀원: 이일주, 남기현</a:t>
            </a:r>
            <a:r>
              <a:rPr lang="en-US" altLang="ko-KR"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박성혁</a:t>
            </a:r>
            <a:r>
              <a:rPr lang="en-US" altLang="ko-KR"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13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 이소현</a:t>
            </a:r>
            <a:endParaRPr lang="ko-KR" altLang="en-US" sz="130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237744" y="142646"/>
            <a:ext cx="3706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배경 및 필요성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237744" y="754380"/>
            <a:ext cx="761695" cy="5760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-44" b="-44"/>
          <a:stretch/>
        </p:blipFill>
        <p:spPr>
          <a:xfrm>
            <a:off x="237744" y="1410919"/>
            <a:ext cx="256946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82694" y="1367942"/>
            <a:ext cx="1881835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충북 토지 구성 특성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11040" y="4081882"/>
            <a:ext cx="1824228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불균형 문제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25087" y="5609844"/>
            <a:ext cx="2262226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기반 정책 필요성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237744" y="1796796"/>
            <a:ext cx="7093915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충청북도는 산림과 농경지가 전체 면적의 83% 이상을 차지하며, 대지와 공장용지 등 도시·산업 용지 비중은 4% 내외로 제한적입니다.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237744" y="4510735"/>
            <a:ext cx="699881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청주시 중심의 도시화와 청주-진천-음성을 잇는 산업벨트가 형성되어 지역 간 불균형이 심화되고 있습니다. 반면 동부·남부 지역은 농림업 중심 구조로 발전 격차가 큽니다.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37744" y="6038698"/>
            <a:ext cx="7008876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산업 입지, 농업 보전, 산림 관리 측면에서 지역별 특성을 고려한 차별화된 토지 이용 정책이 요구됩니다. 14개 행정구역의 토지 이용 데이터에 기반한 과학적 진단과 맞춤형 정책 수립이 필요합니다.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7744" y="2435047"/>
            <a:ext cx="2286000" cy="886054"/>
          </a:xfrm>
          <a:prstGeom prst="roundRect">
            <a:avLst>
              <a:gd name="adj" fmla="val 8877"/>
            </a:avLst>
          </a:prstGeom>
          <a:solidFill>
            <a:srgbClr val="F1F5F9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2613355" y="2435047"/>
            <a:ext cx="2286000" cy="886054"/>
          </a:xfrm>
          <a:prstGeom prst="roundRect">
            <a:avLst>
              <a:gd name="adj" fmla="val 8877"/>
            </a:avLst>
          </a:prstGeom>
          <a:solidFill>
            <a:srgbClr val="F1F5F9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4988052" y="2435047"/>
            <a:ext cx="2286000" cy="886054"/>
          </a:xfrm>
          <a:prstGeom prst="roundRect">
            <a:avLst>
              <a:gd name="adj" fmla="val 8877"/>
            </a:avLst>
          </a:prstGeom>
          <a:solidFill>
            <a:srgbClr val="F1F5F9"/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1091794" y="2558491"/>
            <a:ext cx="7818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66%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467405" y="2558491"/>
            <a:ext cx="78181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17%</a:t>
            </a:r>
            <a:endParaRPr lang="en-US" sz="2100" dirty="0"/>
          </a:p>
        </p:txBody>
      </p:sp>
      <p:sp>
        <p:nvSpPr>
          <p:cNvPr id="17" name="Text 14"/>
          <p:cNvSpPr txBox="1"/>
          <p:nvPr/>
        </p:nvSpPr>
        <p:spPr>
          <a:xfrm>
            <a:off x="5920740" y="2558491"/>
            <a:ext cx="6199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4%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1246327" y="2987345"/>
            <a:ext cx="3739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산림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3555187" y="2987345"/>
            <a:ext cx="507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농경지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843016" y="2987345"/>
            <a:ext cx="67939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도시·산업</a:t>
            </a:r>
            <a:endParaRPr lang="en-US" sz="1100" dirty="0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rcRect l="-80" r="-80"/>
          <a:stretch/>
        </p:blipFill>
        <p:spPr>
          <a:xfrm>
            <a:off x="237744" y="4124858"/>
            <a:ext cx="286207" cy="228600"/>
          </a:xfrm>
          <a:prstGeom prst="rect">
            <a:avLst/>
          </a:prstGeom>
        </p:spPr>
      </p:pic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237744" y="5652821"/>
            <a:ext cx="200254" cy="22860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505395" y="0"/>
            <a:ext cx="4686300" cy="685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7505395" y="6452921"/>
            <a:ext cx="4686300" cy="409651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7956194" y="6548018"/>
            <a:ext cx="38990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충청북도 14개 행정구역 (청주시 4개 구, 충주시, 제천시, 8개 군)</a:t>
            </a:r>
            <a:endParaRPr lang="en-US" sz="1100" dirty="0"/>
          </a:p>
        </p:txBody>
      </p:sp>
      <p:pic>
        <p:nvPicPr>
          <p:cNvPr id="1028" name="Picture 4" descr="충청북도 행정구역도 150cmX210cm 충청북도 지도">
            <a:extLst>
              <a:ext uri="{FF2B5EF4-FFF2-40B4-BE49-F238E27FC236}">
                <a16:creationId xmlns:a16="http://schemas.microsoft.com/office/drawing/2014/main" id="{1B30B1B3-8082-ACF9-35CB-5227296738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4433" y="297014"/>
            <a:ext cx="4230927" cy="5848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90195" y="161849"/>
            <a:ext cx="30678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목표 및 범위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0195" y="828446"/>
            <a:ext cx="761695" cy="5760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90195" y="1076249"/>
            <a:ext cx="571500" cy="5715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190195" y="2628900"/>
            <a:ext cx="571500" cy="5715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190195" y="3924605"/>
            <a:ext cx="571500" cy="5715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183794" y="1114654"/>
            <a:ext cx="962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3900" dirty="0"/>
          </a:p>
        </p:txBody>
      </p:sp>
      <p:sp>
        <p:nvSpPr>
          <p:cNvPr id="9" name="Text 7"/>
          <p:cNvSpPr txBox="1"/>
          <p:nvPr/>
        </p:nvSpPr>
        <p:spPr>
          <a:xfrm>
            <a:off x="905256" y="1190549"/>
            <a:ext cx="22576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용도별 토지 구성 파악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83794" y="2667305"/>
            <a:ext cx="962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3900" dirty="0"/>
          </a:p>
        </p:txBody>
      </p:sp>
      <p:sp>
        <p:nvSpPr>
          <p:cNvPr id="11" name="Text 9"/>
          <p:cNvSpPr txBox="1"/>
          <p:nvPr/>
        </p:nvSpPr>
        <p:spPr>
          <a:xfrm>
            <a:off x="905256" y="2743200"/>
            <a:ext cx="2743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특성 비교 및 유형화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83794" y="3962095"/>
            <a:ext cx="9628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39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" y="4038905"/>
            <a:ext cx="2743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 분석 및 정책 제언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" y="1762049"/>
            <a:ext cx="6329477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임야, 전/답, 대지, 공장용지 등 주요 용도별 면적과 비율을 산출하여 충북 토지 자원 구성을 분석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05256" y="3314700"/>
            <a:ext cx="63111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행정구역 토지 이용 패턴을 비교하여 도시화·산업화·농업화 수준을 파악, 유형 분류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905256" y="4610405"/>
            <a:ext cx="6130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대지-공장용지 면적 상관관계를 분석하여 지역 발전 패턴 규명, 유형별 맞춤 정책 제안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90195" y="5600700"/>
            <a:ext cx="6915607" cy="1920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90195" y="5209208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범위</a:t>
            </a:r>
            <a:endParaRPr lang="en-US" sz="18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rcRect l="-461" r="-461"/>
          <a:stretch/>
        </p:blipFill>
        <p:spPr>
          <a:xfrm>
            <a:off x="213970" y="5778879"/>
            <a:ext cx="237744" cy="20939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571500" y="5694754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범위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71500" y="6181215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단위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71500" y="7267651"/>
            <a:ext cx="605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산출물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76756" y="5685610"/>
            <a:ext cx="767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충청북도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3235147" y="5685610"/>
            <a:ext cx="30915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(청주 4구, 충주, 제천, 8개 군), 7,407km²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1476756" y="6171156"/>
            <a:ext cx="2424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시군구별 토지 용도 면적 및 비율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2107692" y="5666408"/>
            <a:ext cx="1133856" cy="286207"/>
          </a:xfrm>
          <a:prstGeom prst="roundRect">
            <a:avLst>
              <a:gd name="adj" fmla="val 42599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4"/>
          <p:cNvSpPr txBox="1"/>
          <p:nvPr/>
        </p:nvSpPr>
        <p:spPr>
          <a:xfrm>
            <a:off x="2155241" y="5685610"/>
            <a:ext cx="11676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행정구역</a:t>
            </a:r>
            <a:endParaRPr lang="en-US" sz="1300" dirty="0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28600" y="6264425"/>
            <a:ext cx="209398" cy="209398"/>
          </a:xfrm>
          <a:prstGeom prst="rect">
            <a:avLst/>
          </a:prstGeom>
        </p:spPr>
      </p:pic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rcRect l="-461" r="-461"/>
          <a:stretch/>
        </p:blipFill>
        <p:spPr>
          <a:xfrm>
            <a:off x="213970" y="7350862"/>
            <a:ext cx="237744" cy="20939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1476756" y="7258507"/>
            <a:ext cx="3605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구성비 차트, 상관 산점도, 군집화 결과, 정책 제언</a:t>
            </a:r>
            <a:endParaRPr lang="en-US" sz="1300" dirty="0"/>
          </a:p>
        </p:txBody>
      </p:sp>
      <p:sp>
        <p:nvSpPr>
          <p:cNvPr id="31" name="Shape 26"/>
          <p:cNvSpPr/>
          <p:nvPr/>
        </p:nvSpPr>
        <p:spPr>
          <a:xfrm>
            <a:off x="7295998" y="0"/>
            <a:ext cx="4895698" cy="685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7438644" y="142646"/>
            <a:ext cx="4610405" cy="6572707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7534656" y="237744"/>
            <a:ext cx="4419295" cy="11237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9"/>
          <p:cNvSpPr/>
          <p:nvPr/>
        </p:nvSpPr>
        <p:spPr>
          <a:xfrm>
            <a:off x="7534656" y="237744"/>
            <a:ext cx="57607" cy="11237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rcRect t="-13" b="-13"/>
          <a:stretch/>
        </p:blipFill>
        <p:spPr>
          <a:xfrm>
            <a:off x="7767828" y="626364"/>
            <a:ext cx="428854" cy="381305"/>
          </a:xfrm>
          <a:prstGeom prst="rect">
            <a:avLst/>
          </a:prstGeom>
        </p:spPr>
      </p:pic>
      <p:sp>
        <p:nvSpPr>
          <p:cNvPr id="36" name="Shape 30"/>
          <p:cNvSpPr/>
          <p:nvPr/>
        </p:nvSpPr>
        <p:spPr>
          <a:xfrm>
            <a:off x="7534656" y="2106778"/>
            <a:ext cx="4419295" cy="1123798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7534656" y="2106778"/>
            <a:ext cx="57607" cy="1123798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2"/>
          <p:cNvSpPr/>
          <p:nvPr/>
        </p:nvSpPr>
        <p:spPr>
          <a:xfrm>
            <a:off x="7534656" y="3974897"/>
            <a:ext cx="4419295" cy="87599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3"/>
          <p:cNvSpPr/>
          <p:nvPr/>
        </p:nvSpPr>
        <p:spPr>
          <a:xfrm>
            <a:off x="7534656" y="3974897"/>
            <a:ext cx="57607" cy="8759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4"/>
          <p:cNvSpPr/>
          <p:nvPr/>
        </p:nvSpPr>
        <p:spPr>
          <a:xfrm>
            <a:off x="7534656" y="5600700"/>
            <a:ext cx="4419295" cy="875995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5"/>
          <p:cNvSpPr/>
          <p:nvPr/>
        </p:nvSpPr>
        <p:spPr>
          <a:xfrm>
            <a:off x="7534656" y="5600700"/>
            <a:ext cx="57607" cy="875995"/>
          </a:xfrm>
          <a:prstGeom prst="rect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6"/>
          <p:cNvSpPr txBox="1"/>
          <p:nvPr/>
        </p:nvSpPr>
        <p:spPr>
          <a:xfrm>
            <a:off x="8391449" y="390449"/>
            <a:ext cx="1240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구성 분석</a:t>
            </a:r>
            <a:endParaRPr lang="en-US" sz="1400" dirty="0"/>
          </a:p>
        </p:txBody>
      </p:sp>
      <p:sp>
        <p:nvSpPr>
          <p:cNvPr id="43" name="Text 37"/>
          <p:cNvSpPr txBox="1"/>
          <p:nvPr/>
        </p:nvSpPr>
        <p:spPr>
          <a:xfrm>
            <a:off x="8391449" y="718718"/>
            <a:ext cx="345551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임야(66%), 농경지(17%), 대지·공장(4%) 등 용도별 비율 분석</a:t>
            </a:r>
            <a:endParaRPr lang="en-US" sz="1200" dirty="0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rcRect t="-24" b="-24"/>
          <a:stretch/>
        </p:blipFill>
        <p:spPr>
          <a:xfrm>
            <a:off x="7744054" y="2494483"/>
            <a:ext cx="476402" cy="381305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8391449" y="2258568"/>
            <a:ext cx="141274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특성 유형화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8391449" y="4127602"/>
            <a:ext cx="119329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 분석</a:t>
            </a:r>
            <a:endParaRPr lang="en-US" sz="1400" dirty="0"/>
          </a:p>
        </p:txBody>
      </p:sp>
      <p:sp>
        <p:nvSpPr>
          <p:cNvPr id="47" name="Text 40"/>
          <p:cNvSpPr txBox="1"/>
          <p:nvPr/>
        </p:nvSpPr>
        <p:spPr>
          <a:xfrm>
            <a:off x="8391449" y="5752490"/>
            <a:ext cx="124084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방향 제시</a:t>
            </a:r>
            <a:endParaRPr lang="en-US" sz="1400" dirty="0"/>
          </a:p>
        </p:txBody>
      </p:sp>
      <p:sp>
        <p:nvSpPr>
          <p:cNvPr id="48" name="Text 41"/>
          <p:cNvSpPr txBox="1"/>
          <p:nvPr/>
        </p:nvSpPr>
        <p:spPr>
          <a:xfrm>
            <a:off x="8391449" y="2587752"/>
            <a:ext cx="3493922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도시/산업형, 균형형, 농업/산림형 3가지 지역 유형 도출</a:t>
            </a:r>
            <a:endParaRPr lang="en-US" sz="1200" dirty="0"/>
          </a:p>
        </p:txBody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791602" y="4241902"/>
            <a:ext cx="381305" cy="381305"/>
          </a:xfrm>
          <a:prstGeom prst="rect">
            <a:avLst/>
          </a:prstGeom>
        </p:spPr>
      </p:pic>
      <p:sp>
        <p:nvSpPr>
          <p:cNvPr id="50" name="Text 42"/>
          <p:cNvSpPr txBox="1"/>
          <p:nvPr/>
        </p:nvSpPr>
        <p:spPr>
          <a:xfrm>
            <a:off x="8391449" y="4455871"/>
            <a:ext cx="30934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대지-공장용지 상관계수 분석 및 회귀 모델링</a:t>
            </a:r>
            <a:endParaRPr lang="en-US" sz="1200" dirty="0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rcRect t="-13" b="-13"/>
          <a:stretch/>
        </p:blipFill>
        <p:spPr>
          <a:xfrm>
            <a:off x="7767828" y="5866790"/>
            <a:ext cx="428854" cy="381305"/>
          </a:xfrm>
          <a:prstGeom prst="rect">
            <a:avLst/>
          </a:prstGeom>
        </p:spPr>
      </p:pic>
      <p:sp>
        <p:nvSpPr>
          <p:cNvPr id="52" name="Text 43"/>
          <p:cNvSpPr txBox="1"/>
          <p:nvPr/>
        </p:nvSpPr>
        <p:spPr>
          <a:xfrm>
            <a:off x="8391449" y="6081674"/>
            <a:ext cx="31226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유형별 맞춤형 토지 이용 정책 방향 제안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237744" y="142646"/>
            <a:ext cx="2953512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계획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7744" y="790956"/>
            <a:ext cx="761695" cy="5760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l="-881" r="-881"/>
          <a:stretch/>
        </p:blipFill>
        <p:spPr>
          <a:xfrm>
            <a:off x="237744" y="1214323"/>
            <a:ext cx="237744" cy="26700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71500" y="1162202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데이터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237744" y="1628546"/>
            <a:ext cx="27386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충청북도 지적통계 2025-07-01 기준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237744" y="1962302"/>
            <a:ext cx="28245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14개 행정구역 포함 (청주시 4구 포함)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37744" y="2295144"/>
            <a:ext cx="3376879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5가지 주요 토지 용도: 임야, 전, 답, 대지, 공장용지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237744" y="2885846"/>
            <a:ext cx="18150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7,407km² 분석 면적</a:t>
            </a:r>
            <a:endParaRPr lang="en-US" sz="13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908146" y="1214323"/>
            <a:ext cx="267005" cy="2670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70248" y="1162202"/>
            <a:ext cx="12957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보조 데이터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908146" y="1628546"/>
            <a:ext cx="2291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통계청 인구 통계 (행정구역별)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908146" y="1962302"/>
            <a:ext cx="21296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사업체 현황 데이터 (선택적)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3908146" y="2295144"/>
            <a:ext cx="2472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GRDP 및 산업단지 현황 (참고용)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3908146" y="2628900"/>
            <a:ext cx="26243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지리정보시스템(GIS) 데이터 (선택)</a:t>
            </a:r>
            <a:endParaRPr lang="en-US" sz="1300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37744" y="3552444"/>
            <a:ext cx="267005" cy="26700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99846" y="3500323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관리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237744" y="3967582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일관성 검증 및 표준화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237744" y="4300423"/>
            <a:ext cx="20820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결측치/이상치 식별 및 처리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237744" y="4634179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정리 및 버전 관리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237744" y="4967021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검증 스크립트 작성</a:t>
            </a:r>
            <a:endParaRPr lang="en-US" sz="13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l="-881" r="-881"/>
          <a:stretch/>
        </p:blipFill>
        <p:spPr>
          <a:xfrm>
            <a:off x="3908146" y="3552444"/>
            <a:ext cx="237744" cy="26700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4241902" y="3500323"/>
            <a:ext cx="10863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수집 일정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3908146" y="3967582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1주차 내 완료 목표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3908146" y="4300423"/>
            <a:ext cx="3491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확보 → 검증 → 카탈로그화 순서로 진행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3908146" y="4634179"/>
            <a:ext cx="23390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팀원 간 분담 작업 (행정구역별)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3908146" y="4967021"/>
            <a:ext cx="18534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일일 진행상황 점검 회의</a:t>
            </a:r>
            <a:endParaRPr lang="en-US" sz="13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237744" y="5682082"/>
            <a:ext cx="267005" cy="26700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599846" y="5629046"/>
            <a:ext cx="177210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확보 방안</a:t>
            </a:r>
            <a:endParaRPr lang="en-US" sz="1800" dirty="0"/>
          </a:p>
        </p:txBody>
      </p:sp>
      <p:sp>
        <p:nvSpPr>
          <p:cNvPr id="31" name="Shape 24"/>
          <p:cNvSpPr/>
          <p:nvPr/>
        </p:nvSpPr>
        <p:spPr>
          <a:xfrm>
            <a:off x="237744" y="6096305"/>
            <a:ext cx="7058254" cy="571500"/>
          </a:xfrm>
          <a:prstGeom prst="roundRect">
            <a:avLst>
              <a:gd name="adj" fmla="val 21333"/>
            </a:avLst>
          </a:prstGeom>
          <a:solidFill>
            <a:srgbClr val="3B82F6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5"/>
          <p:cNvSpPr txBox="1"/>
          <p:nvPr/>
        </p:nvSpPr>
        <p:spPr>
          <a:xfrm>
            <a:off x="595274" y="6253582"/>
            <a:ext cx="6473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충청북도청 지적통계 데이터 공개 요청 → 데이터 수집 → 데이터 표준화 → 카탈로그 구축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7487107" y="0"/>
            <a:ext cx="4705502" cy="6858000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rcRect l="28044" r="28044"/>
          <a:stretch/>
        </p:blipFill>
        <p:spPr>
          <a:xfrm>
            <a:off x="7487107" y="0"/>
            <a:ext cx="4705502" cy="68580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7487107" y="6439205"/>
            <a:ext cx="4705502" cy="418795"/>
          </a:xfrm>
          <a:prstGeom prst="rect">
            <a:avLst/>
          </a:prstGeom>
          <a:solidFill>
            <a:srgbClr val="0F172A">
              <a:alpha val="7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 txBox="1"/>
          <p:nvPr/>
        </p:nvSpPr>
        <p:spPr>
          <a:xfrm>
            <a:off x="8055864" y="6534302"/>
            <a:ext cx="3686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데이터 수집과 품질 관리가 분석 품질의 첫 단계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86207" y="1181405"/>
            <a:ext cx="5581498" cy="2667305"/>
          </a:xfrm>
          <a:prstGeom prst="roundRect">
            <a:avLst>
              <a:gd name="adj" fmla="val 2449"/>
            </a:avLst>
          </a:prstGeom>
          <a:solidFill>
            <a:srgbClr val="EEF2FF"/>
          </a:solidFill>
          <a:ln w="25400">
            <a:solidFill>
              <a:srgbClr val="3B82F6"/>
            </a:solidFill>
            <a:prstDash val="solid"/>
          </a:ln>
          <a:effectLst>
            <a:outerShdw blurRad="2413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0000"/>
          </a:blip>
          <a:srcRect/>
          <a:stretch/>
        </p:blipFill>
        <p:spPr>
          <a:xfrm>
            <a:off x="5177333" y="1390802"/>
            <a:ext cx="476402" cy="47640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3154" y="1285646"/>
            <a:ext cx="13194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543154" y="2210105"/>
            <a:ext cx="26481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정합성 검증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543154" y="2800807"/>
            <a:ext cx="26389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행정구역 코드 및 필드명 표준화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3154" y="3086100"/>
            <a:ext cx="34198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단위 통일 (km², m²) 및 데이터 타입 검증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543154" y="3372307"/>
            <a:ext cx="24670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메타데이터 구조 확인 및 정리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328562" y="1181405"/>
            <a:ext cx="5581498" cy="2667305"/>
          </a:xfrm>
          <a:prstGeom prst="roundRect">
            <a:avLst>
              <a:gd name="adj" fmla="val 2449"/>
            </a:avLst>
          </a:prstGeom>
          <a:solidFill>
            <a:srgbClr val="FEF3C7"/>
          </a:solidFill>
          <a:ln w="25400">
            <a:solidFill>
              <a:srgbClr val="F59E0B"/>
            </a:solidFill>
            <a:prstDash val="solid"/>
          </a:ln>
          <a:effectLst>
            <a:outerShdw blurRad="2413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rcRect/>
          <a:stretch/>
        </p:blipFill>
        <p:spPr>
          <a:xfrm>
            <a:off x="11220602" y="1390802"/>
            <a:ext cx="476402" cy="476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585509" y="1285646"/>
            <a:ext cx="13194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5200" dirty="0"/>
          </a:p>
        </p:txBody>
      </p:sp>
      <p:sp>
        <p:nvSpPr>
          <p:cNvPr id="13" name="Text 9"/>
          <p:cNvSpPr txBox="1"/>
          <p:nvPr/>
        </p:nvSpPr>
        <p:spPr>
          <a:xfrm>
            <a:off x="6585509" y="2210105"/>
            <a:ext cx="26773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결측치/이상치 처리</a:t>
            </a:r>
            <a:endParaRPr lang="en-US" sz="2400" dirty="0"/>
          </a:p>
        </p:txBody>
      </p:sp>
      <p:sp>
        <p:nvSpPr>
          <p:cNvPr id="14" name="Text 10"/>
          <p:cNvSpPr txBox="1"/>
          <p:nvPr/>
        </p:nvSpPr>
        <p:spPr>
          <a:xfrm>
            <a:off x="6585509" y="2800807"/>
            <a:ext cx="24103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통계적 방법으로 이상치 탐지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6585509" y="3086100"/>
            <a:ext cx="26956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필드별 결측 데이터 확인 및 보정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6585509" y="3372307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클린징 및 품질 보장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286207" y="4134002"/>
            <a:ext cx="5581498" cy="2667305"/>
          </a:xfrm>
          <a:prstGeom prst="roundRect">
            <a:avLst>
              <a:gd name="adj" fmla="val 2449"/>
            </a:avLst>
          </a:prstGeom>
          <a:solidFill>
            <a:srgbClr val="DCFCE7"/>
          </a:solidFill>
          <a:ln w="25400">
            <a:solidFill>
              <a:srgbClr val="22C55E"/>
            </a:solidFill>
            <a:prstDash val="solid"/>
          </a:ln>
          <a:effectLst>
            <a:outerShdw blurRad="2413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alphaModFix amt="20000"/>
          </a:blip>
          <a:srcRect l="-672" r="-672"/>
          <a:stretch/>
        </p:blipFill>
        <p:spPr>
          <a:xfrm>
            <a:off x="5291633" y="4343400"/>
            <a:ext cx="362102" cy="476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43154" y="4238244"/>
            <a:ext cx="13194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5200" dirty="0"/>
          </a:p>
        </p:txBody>
      </p:sp>
      <p:sp>
        <p:nvSpPr>
          <p:cNvPr id="20" name="Text 15"/>
          <p:cNvSpPr txBox="1"/>
          <p:nvPr/>
        </p:nvSpPr>
        <p:spPr>
          <a:xfrm>
            <a:off x="543154" y="5162702"/>
            <a:ext cx="20866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비율 지표 산출</a:t>
            </a:r>
            <a:endParaRPr lang="en-US" sz="2400" dirty="0"/>
          </a:p>
        </p:txBody>
      </p:sp>
      <p:sp>
        <p:nvSpPr>
          <p:cNvPr id="21" name="Text 16"/>
          <p:cNvSpPr txBox="1"/>
          <p:nvPr/>
        </p:nvSpPr>
        <p:spPr>
          <a:xfrm>
            <a:off x="543154" y="5753405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용도별 면적 비율 지표 계산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543154" y="6038698"/>
            <a:ext cx="24670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토지 유형 구성비 산출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543154" y="6324905"/>
            <a:ext cx="2286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표준화된 지표 생성 및 검증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328562" y="4134002"/>
            <a:ext cx="5581498" cy="2667305"/>
          </a:xfrm>
          <a:prstGeom prst="roundRect">
            <a:avLst>
              <a:gd name="adj" fmla="val 2449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blurRad="241300" dist="1016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>
            <a:alphaModFix amt="20000"/>
          </a:blip>
          <a:srcRect/>
          <a:stretch/>
        </p:blipFill>
        <p:spPr>
          <a:xfrm>
            <a:off x="11220602" y="4343400"/>
            <a:ext cx="476402" cy="47640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585509" y="4238244"/>
            <a:ext cx="1319479" cy="962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5200" dirty="0"/>
          </a:p>
        </p:txBody>
      </p:sp>
      <p:sp>
        <p:nvSpPr>
          <p:cNvPr id="27" name="Text 21"/>
          <p:cNvSpPr txBox="1"/>
          <p:nvPr/>
        </p:nvSpPr>
        <p:spPr>
          <a:xfrm>
            <a:off x="6585509" y="5162702"/>
            <a:ext cx="20866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9731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통계 분석</a:t>
            </a:r>
            <a:endParaRPr lang="en-US" sz="2400" dirty="0"/>
          </a:p>
        </p:txBody>
      </p:sp>
      <p:sp>
        <p:nvSpPr>
          <p:cNvPr id="28" name="Text 22"/>
          <p:cNvSpPr txBox="1"/>
          <p:nvPr/>
        </p:nvSpPr>
        <p:spPr>
          <a:xfrm>
            <a:off x="6585509" y="5753405"/>
            <a:ext cx="20866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용도별 평균/중앙값 산출</a:t>
            </a:r>
            <a:endParaRPr lang="en-US" sz="1500" dirty="0"/>
          </a:p>
        </p:txBody>
      </p:sp>
      <p:sp>
        <p:nvSpPr>
          <p:cNvPr id="29" name="Text 23"/>
          <p:cNvSpPr txBox="1"/>
          <p:nvPr/>
        </p:nvSpPr>
        <p:spPr>
          <a:xfrm>
            <a:off x="6585509" y="6038698"/>
            <a:ext cx="21150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비교 및 순위 분석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6585509" y="6324905"/>
            <a:ext cx="2343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 특성 및 초기 패턴 파악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0" y="0"/>
            <a:ext cx="12191695" cy="990295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6"/>
          <p:cNvSpPr txBox="1"/>
          <p:nvPr/>
        </p:nvSpPr>
        <p:spPr>
          <a:xfrm>
            <a:off x="428854" y="200254"/>
            <a:ext cx="5429707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방법론 ① 전처리·기초 통계</a:t>
            </a:r>
            <a:endParaRPr lang="en-US" sz="3000" dirty="0"/>
          </a:p>
        </p:txBody>
      </p:sp>
      <p:sp>
        <p:nvSpPr>
          <p:cNvPr id="33" name="Shape 27"/>
          <p:cNvSpPr/>
          <p:nvPr/>
        </p:nvSpPr>
        <p:spPr>
          <a:xfrm>
            <a:off x="428854" y="838505"/>
            <a:ext cx="952805" cy="5760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1295705" y="1143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3B82F6">
              <a:alpha val="20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295144" y="1407262"/>
            <a:ext cx="286207" cy="28620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23237" y="1848002"/>
            <a:ext cx="767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상관분석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rcRect l="-1118" r="-1118"/>
          <a:stretch/>
        </p:blipFill>
        <p:spPr>
          <a:xfrm>
            <a:off x="2328977" y="2428646"/>
            <a:ext cx="219456" cy="28620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1295705" y="28575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F97316">
              <a:alpha val="20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266" r="-266"/>
          <a:stretch/>
        </p:blipFill>
        <p:spPr>
          <a:xfrm>
            <a:off x="2276856" y="3121762"/>
            <a:ext cx="323698" cy="286207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23237" y="3562502"/>
            <a:ext cx="767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2410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회귀분석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 l="-1118" r="-1118"/>
          <a:stretch/>
        </p:blipFill>
        <p:spPr>
          <a:xfrm>
            <a:off x="2328977" y="4143146"/>
            <a:ext cx="219456" cy="286207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1295705" y="4572000"/>
            <a:ext cx="2286000" cy="1143000"/>
          </a:xfrm>
          <a:prstGeom prst="roundRect">
            <a:avLst>
              <a:gd name="adj" fmla="val 8000"/>
            </a:avLst>
          </a:prstGeom>
          <a:solidFill>
            <a:srgbClr val="22C55E">
              <a:alpha val="20000"/>
            </a:srgbClr>
          </a:solidFill>
          <a:ln/>
          <a:effectLst>
            <a:outerShdw blurRad="152400" dist="762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6"/>
          <a:srcRect l="-266" r="-266"/>
          <a:stretch/>
        </p:blipFill>
        <p:spPr>
          <a:xfrm>
            <a:off x="2276856" y="4836262"/>
            <a:ext cx="323698" cy="286207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2201875" y="5277002"/>
            <a:ext cx="6053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</a:t>
            </a:r>
            <a:endParaRPr lang="en-US" sz="1300" dirty="0"/>
          </a:p>
        </p:txBody>
      </p:sp>
      <p:sp>
        <p:nvSpPr>
          <p:cNvPr id="14" name="Text 7"/>
          <p:cNvSpPr txBox="1"/>
          <p:nvPr/>
        </p:nvSpPr>
        <p:spPr>
          <a:xfrm>
            <a:off x="5257800" y="1895551"/>
            <a:ext cx="15627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9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분석 방법</a:t>
            </a:r>
            <a:endParaRPr lang="en-US" sz="1800" dirty="0"/>
          </a:p>
        </p:txBody>
      </p:sp>
      <p:sp>
        <p:nvSpPr>
          <p:cNvPr id="15" name="Shape 8"/>
          <p:cNvSpPr/>
          <p:nvPr/>
        </p:nvSpPr>
        <p:spPr>
          <a:xfrm>
            <a:off x="5257800" y="2476195"/>
            <a:ext cx="476402" cy="476402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5381244" y="2600554"/>
            <a:ext cx="228600" cy="2286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5924398" y="2476195"/>
            <a:ext cx="848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상관분석</a:t>
            </a:r>
            <a:endParaRPr lang="en-US" sz="1500" dirty="0"/>
          </a:p>
        </p:txBody>
      </p:sp>
      <p:sp>
        <p:nvSpPr>
          <p:cNvPr id="18" name="Text 10"/>
          <p:cNvSpPr txBox="1"/>
          <p:nvPr/>
        </p:nvSpPr>
        <p:spPr>
          <a:xfrm>
            <a:off x="5924398" y="3305556"/>
            <a:ext cx="8485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회귀분석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5924398" y="2838298"/>
            <a:ext cx="5420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Pearson 상관계수로 용도별 면적 간 관계성 분석, 특히 대지-공장용지 상관관계 규명</a:t>
            </a:r>
            <a:endParaRPr lang="en-US" sz="1200" dirty="0"/>
          </a:p>
        </p:txBody>
      </p:sp>
      <p:sp>
        <p:nvSpPr>
          <p:cNvPr id="20" name="Shape 12"/>
          <p:cNvSpPr/>
          <p:nvPr/>
        </p:nvSpPr>
        <p:spPr>
          <a:xfrm>
            <a:off x="5257800" y="3305556"/>
            <a:ext cx="476402" cy="476402"/>
          </a:xfrm>
          <a:prstGeom prst="ellipse">
            <a:avLst/>
          </a:prstGeom>
          <a:solidFill>
            <a:srgbClr val="EF4444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8"/>
          <a:srcRect t="-44" b="-44"/>
          <a:stretch/>
        </p:blipFill>
        <p:spPr>
          <a:xfrm>
            <a:off x="5367528" y="3429000"/>
            <a:ext cx="256946" cy="22860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5924398" y="3666744"/>
            <a:ext cx="3982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대지→공장용지 간 단순선형회귀 적용, 산업화 예측 모델 구축</a:t>
            </a:r>
            <a:endParaRPr lang="en-US" sz="1200" dirty="0"/>
          </a:p>
        </p:txBody>
      </p:sp>
      <p:sp>
        <p:nvSpPr>
          <p:cNvPr id="23" name="Shape 14"/>
          <p:cNvSpPr/>
          <p:nvPr/>
        </p:nvSpPr>
        <p:spPr>
          <a:xfrm>
            <a:off x="5257800" y="4134002"/>
            <a:ext cx="476402" cy="476402"/>
          </a:xfrm>
          <a:prstGeom prst="ellipse">
            <a:avLst/>
          </a:prstGeom>
          <a:solidFill>
            <a:srgbClr val="22C55E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9"/>
          <a:srcRect t="-44" b="-44"/>
          <a:stretch/>
        </p:blipFill>
        <p:spPr>
          <a:xfrm>
            <a:off x="5367528" y="4257446"/>
            <a:ext cx="256946" cy="22860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5924398" y="4134002"/>
            <a:ext cx="1257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군집화·시각화</a:t>
            </a:r>
            <a:endParaRPr lang="en-US" sz="1500" dirty="0"/>
          </a:p>
        </p:txBody>
      </p:sp>
      <p:sp>
        <p:nvSpPr>
          <p:cNvPr id="26" name="Text 16"/>
          <p:cNvSpPr txBox="1"/>
          <p:nvPr/>
        </p:nvSpPr>
        <p:spPr>
          <a:xfrm>
            <a:off x="5924398" y="4496105"/>
            <a:ext cx="4648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KMeans(k=3) 알고리즘으로 지역 유형화, PCA 차원 축소로 결과 시각화</a:t>
            </a:r>
            <a:endParaRPr lang="en-US" sz="1200" dirty="0"/>
          </a:p>
        </p:txBody>
      </p:sp>
      <p:sp>
        <p:nvSpPr>
          <p:cNvPr id="27" name="Shape 17"/>
          <p:cNvSpPr/>
          <p:nvPr/>
        </p:nvSpPr>
        <p:spPr>
          <a:xfrm>
            <a:off x="0" y="0"/>
            <a:ext cx="12191695" cy="1037844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18"/>
          <p:cNvSpPr txBox="1"/>
          <p:nvPr/>
        </p:nvSpPr>
        <p:spPr>
          <a:xfrm>
            <a:off x="333756" y="34290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방법론 ② 상관·군집 모델링</a:t>
            </a:r>
            <a:endParaRPr lang="en-US" sz="2400" dirty="0"/>
          </a:p>
        </p:txBody>
      </p:sp>
      <p:sp>
        <p:nvSpPr>
          <p:cNvPr id="29" name="Shape 19"/>
          <p:cNvSpPr/>
          <p:nvPr/>
        </p:nvSpPr>
        <p:spPr>
          <a:xfrm>
            <a:off x="333756" y="886054"/>
            <a:ext cx="952805" cy="5760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0"/>
          <p:cNvSpPr txBox="1"/>
          <p:nvPr/>
        </p:nvSpPr>
        <p:spPr>
          <a:xfrm>
            <a:off x="3322015" y="6310274"/>
            <a:ext cx="56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도구: Python(Pandas, Scikit-learn, Matplotlib) | 산출물: 상관계수, 회귀식, 군집 유형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190195" y="161849"/>
            <a:ext cx="3762756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예상</a:t>
            </a:r>
            <a:r>
              <a:rPr lang="en-US" sz="3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sz="3000" b="1" dirty="0" err="1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0195" y="838505"/>
            <a:ext cx="666598" cy="5760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190195" y="1133856"/>
            <a:ext cx="214792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시각화 산출물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190195" y="1647749"/>
            <a:ext cx="10251382" cy="666598"/>
          </a:xfrm>
          <a:prstGeom prst="roundRect">
            <a:avLst>
              <a:gd name="adj" fmla="val 15677"/>
            </a:avLst>
          </a:prstGeom>
          <a:solidFill>
            <a:srgbClr val="F1F5F9">
              <a:alpha val="70000"/>
            </a:srgbClr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t="-44" b="-44"/>
          <a:stretch/>
        </p:blipFill>
        <p:spPr>
          <a:xfrm>
            <a:off x="381305" y="1886407"/>
            <a:ext cx="256946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0195" y="4229100"/>
            <a:ext cx="252008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 유형 분류 및 특성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190195" y="2505456"/>
            <a:ext cx="10251382" cy="666598"/>
          </a:xfrm>
          <a:prstGeom prst="roundRect">
            <a:avLst>
              <a:gd name="adj" fmla="val 15677"/>
            </a:avLst>
          </a:prstGeom>
          <a:solidFill>
            <a:srgbClr val="F1F5F9">
              <a:alpha val="70000"/>
            </a:srgbClr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7"/>
          <p:cNvSpPr/>
          <p:nvPr/>
        </p:nvSpPr>
        <p:spPr>
          <a:xfrm>
            <a:off x="190195" y="3362249"/>
            <a:ext cx="10251382" cy="666598"/>
          </a:xfrm>
          <a:prstGeom prst="roundRect">
            <a:avLst>
              <a:gd name="adj" fmla="val 15677"/>
            </a:avLst>
          </a:prstGeom>
          <a:solidFill>
            <a:srgbClr val="F1F5F9">
              <a:alpha val="70000"/>
            </a:srgbClr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752551" y="1800454"/>
            <a:ext cx="5853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용도별 구성비 차트 - 14개 행정구역별 토지 용도 구성 비율을 도넛 차트로 시각화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495605" y="2657246"/>
            <a:ext cx="51389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 산점도 - 대지면적과 공장용지 간 관계 분석, 행정구역별 색상 구분</a:t>
            </a:r>
            <a:endParaRPr lang="en-US" sz="13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44" b="-44"/>
          <a:stretch/>
        </p:blipFill>
        <p:spPr>
          <a:xfrm>
            <a:off x="381305" y="3600907"/>
            <a:ext cx="256946" cy="228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52551" y="3514954"/>
            <a:ext cx="47009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 유형 지도 - KMeans 3개 유형을 충북 지도에 색상으로 표시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190195" y="4743907"/>
            <a:ext cx="3035808" cy="1999793"/>
          </a:xfrm>
          <a:prstGeom prst="roundRect">
            <a:avLst>
              <a:gd name="adj" fmla="val 3919"/>
            </a:avLst>
          </a:prstGeom>
          <a:solidFill>
            <a:srgbClr val="F1F5F9">
              <a:alpha val="70000"/>
            </a:srgbClr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80" r="-80"/>
          <a:stretch/>
        </p:blipFill>
        <p:spPr>
          <a:xfrm>
            <a:off x="381305" y="4981651"/>
            <a:ext cx="286207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3879846" y="4738878"/>
            <a:ext cx="3035808" cy="1999793"/>
          </a:xfrm>
          <a:prstGeom prst="roundRect">
            <a:avLst>
              <a:gd name="adj" fmla="val 3919"/>
            </a:avLst>
          </a:prstGeom>
          <a:solidFill>
            <a:srgbClr val="F1F5F9">
              <a:alpha val="70000"/>
            </a:srgbClr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780898" y="4895698"/>
            <a:ext cx="214518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도시/산업형 - 청주 4구, 진천, 음성 (대지·공장용지 비율 높음)</a:t>
            </a:r>
            <a:endParaRPr lang="en-US" sz="13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80" r="-80"/>
          <a:stretch/>
        </p:blipFill>
        <p:spPr>
          <a:xfrm>
            <a:off x="4251093" y="4981651"/>
            <a:ext cx="286207" cy="2286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616691" y="4743907"/>
            <a:ext cx="2694258" cy="1994764"/>
          </a:xfrm>
          <a:prstGeom prst="roundRect">
            <a:avLst>
              <a:gd name="adj" fmla="val 3919"/>
            </a:avLst>
          </a:prstGeom>
          <a:solidFill>
            <a:srgbClr val="F1F5F9">
              <a:alpha val="70000"/>
            </a:srgbClr>
          </a:solidFill>
          <a:ln/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5"/>
          <p:cNvSpPr txBox="1"/>
          <p:nvPr/>
        </p:nvSpPr>
        <p:spPr>
          <a:xfrm>
            <a:off x="4651600" y="5095951"/>
            <a:ext cx="215524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균형형 - 충주, 증평 (도시·농림·산업용지 고른 비중)</a:t>
            </a:r>
            <a:endParaRPr lang="en-US" sz="1300" dirty="0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7929348" y="4981651"/>
            <a:ext cx="200254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43901" y="4895697"/>
            <a:ext cx="184062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농업/산림형 - 제천, 보은, 옥천, 영동, 괴산, 단양 (임야·농경지 중심)</a:t>
            </a:r>
            <a:endParaRPr lang="en-US" sz="13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rcRect l="-80" r="-80"/>
          <a:stretch/>
        </p:blipFill>
        <p:spPr>
          <a:xfrm>
            <a:off x="312760" y="5882335"/>
            <a:ext cx="286207" cy="22860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12352" y="5796382"/>
            <a:ext cx="2334463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도시/산업형 - 친환경 산업단지 조성, 도심 녹지 확대, SOC 고도화</a:t>
            </a:r>
            <a:endParaRPr lang="en-US" sz="13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 l="-80" r="-80"/>
          <a:stretch/>
        </p:blipFill>
        <p:spPr>
          <a:xfrm>
            <a:off x="4265267" y="5976518"/>
            <a:ext cx="286207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665774" y="5890565"/>
            <a:ext cx="2140152" cy="1019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균형형 - 복합용도 개발, 연계 교통망 확충, 관광-산업 연계</a:t>
            </a:r>
            <a:endParaRPr lang="en-US" sz="1300" dirty="0"/>
          </a:p>
        </p:txBody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rcRect l="-57" r="-57"/>
          <a:stretch/>
        </p:blipFill>
        <p:spPr>
          <a:xfrm>
            <a:off x="7929348" y="5901581"/>
            <a:ext cx="200254" cy="228600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8243901" y="5815628"/>
            <a:ext cx="161483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농업/산림형 - 생태관광 활성화, 농림자원 보전, 특화산업 육성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286207" y="1604772"/>
            <a:ext cx="1904695" cy="4095598"/>
          </a:xfrm>
          <a:prstGeom prst="roundRect">
            <a:avLst>
              <a:gd name="adj" fmla="val 2880"/>
            </a:avLst>
          </a:prstGeom>
          <a:solidFill>
            <a:srgbClr val="2563EB">
              <a:alpha val="10000"/>
            </a:srgbClr>
          </a:solidFill>
          <a:ln/>
          <a:effectLst>
            <a:outerShdw blurRad="152400" dist="762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86207" y="1604772"/>
            <a:ext cx="1904695" cy="47549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57707" y="1986077"/>
            <a:ext cx="761695" cy="6291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2563EB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994991" y="2014423"/>
            <a:ext cx="5148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761695" y="2852928"/>
            <a:ext cx="952805" cy="724205"/>
          </a:xfrm>
          <a:prstGeom prst="ellipse">
            <a:avLst/>
          </a:prstGeom>
          <a:solidFill>
            <a:srgbClr val="2563EB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228" r="-228"/>
          <a:stretch/>
        </p:blipFill>
        <p:spPr>
          <a:xfrm>
            <a:off x="1061618" y="3012948"/>
            <a:ext cx="352044" cy="4005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3154" y="3839566"/>
            <a:ext cx="15627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 및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80314" y="4136746"/>
            <a:ext cx="1295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완료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456286" y="4595774"/>
            <a:ext cx="170078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지적통계 데이터 취합, 결측치/이상치 처리, 파생변수 생성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539" b="-539"/>
          <a:stretch/>
        </p:blipFill>
        <p:spPr>
          <a:xfrm>
            <a:off x="2266798" y="3438144"/>
            <a:ext cx="371246" cy="42885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714854" y="1604772"/>
            <a:ext cx="1904695" cy="4095598"/>
          </a:xfrm>
          <a:prstGeom prst="roundRect">
            <a:avLst>
              <a:gd name="adj" fmla="val 2880"/>
            </a:avLst>
          </a:prstGeom>
          <a:solidFill>
            <a:srgbClr val="16A34A">
              <a:alpha val="10000"/>
            </a:srgbClr>
          </a:solidFill>
          <a:ln/>
          <a:effectLst>
            <a:outerShdw blurRad="152400" dist="762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0"/>
          <p:cNvSpPr/>
          <p:nvPr/>
        </p:nvSpPr>
        <p:spPr>
          <a:xfrm>
            <a:off x="2714854" y="1604772"/>
            <a:ext cx="1904695" cy="47549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3286354" y="1986077"/>
            <a:ext cx="761695" cy="724205"/>
          </a:xfrm>
          <a:prstGeom prst="ellipse">
            <a:avLst/>
          </a:prstGeom>
          <a:solidFill>
            <a:srgbClr val="FFFFFF"/>
          </a:solidFill>
          <a:ln w="38100">
            <a:solidFill>
              <a:srgbClr val="16A34A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 txBox="1"/>
          <p:nvPr/>
        </p:nvSpPr>
        <p:spPr>
          <a:xfrm>
            <a:off x="3423638" y="2058314"/>
            <a:ext cx="5148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6A34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Shape 13"/>
          <p:cNvSpPr/>
          <p:nvPr/>
        </p:nvSpPr>
        <p:spPr>
          <a:xfrm>
            <a:off x="3191256" y="2939796"/>
            <a:ext cx="952805" cy="895198"/>
          </a:xfrm>
          <a:prstGeom prst="ellipse">
            <a:avLst/>
          </a:prstGeom>
          <a:solidFill>
            <a:srgbClr val="16A34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467405" y="3184855"/>
            <a:ext cx="400507" cy="4005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214116" y="4096512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기초 통계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3214116" y="4393692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완료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2861158" y="4852721"/>
            <a:ext cx="1748333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용도별 면적/비율 요약, 지역별 비교 분석</a:t>
            </a:r>
            <a:endParaRPr lang="en-US" sz="1300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rcRect t="-539" b="-539"/>
          <a:stretch/>
        </p:blipFill>
        <p:spPr>
          <a:xfrm>
            <a:off x="4695444" y="3438144"/>
            <a:ext cx="371246" cy="428854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143500" y="1604772"/>
            <a:ext cx="1904695" cy="4095598"/>
          </a:xfrm>
          <a:prstGeom prst="roundRect">
            <a:avLst>
              <a:gd name="adj" fmla="val 2880"/>
            </a:avLst>
          </a:prstGeom>
          <a:solidFill>
            <a:srgbClr val="D97706">
              <a:alpha val="10000"/>
            </a:srgbClr>
          </a:solidFill>
          <a:ln/>
          <a:effectLst>
            <a:outerShdw blurRad="152400" dist="762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18"/>
          <p:cNvSpPr/>
          <p:nvPr/>
        </p:nvSpPr>
        <p:spPr>
          <a:xfrm>
            <a:off x="5143500" y="1604772"/>
            <a:ext cx="1904695" cy="47549"/>
          </a:xfrm>
          <a:prstGeom prst="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5715000" y="1986077"/>
            <a:ext cx="761695" cy="6291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97706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5853199" y="2014423"/>
            <a:ext cx="5148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3000" dirty="0"/>
          </a:p>
        </p:txBody>
      </p:sp>
      <p:sp>
        <p:nvSpPr>
          <p:cNvPr id="27" name="Shape 21"/>
          <p:cNvSpPr/>
          <p:nvPr/>
        </p:nvSpPr>
        <p:spPr>
          <a:xfrm>
            <a:off x="5619902" y="2852928"/>
            <a:ext cx="952805" cy="724205"/>
          </a:xfrm>
          <a:prstGeom prst="ellipse">
            <a:avLst/>
          </a:prstGeom>
          <a:solidFill>
            <a:srgbClr val="D97706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6"/>
          <a:srcRect l="-685" r="-685"/>
          <a:stretch/>
        </p:blipFill>
        <p:spPr>
          <a:xfrm>
            <a:off x="5943600" y="3012948"/>
            <a:ext cx="304495" cy="4005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638190" y="3839566"/>
            <a:ext cx="10954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상관·회귀</a:t>
            </a:r>
            <a:endParaRPr lang="en-US" sz="1800" dirty="0"/>
          </a:p>
        </p:txBody>
      </p:sp>
      <p:sp>
        <p:nvSpPr>
          <p:cNvPr id="30" name="Text 23"/>
          <p:cNvSpPr txBox="1"/>
          <p:nvPr/>
        </p:nvSpPr>
        <p:spPr>
          <a:xfrm>
            <a:off x="5643677" y="413674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완료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5338267" y="4595774"/>
            <a:ext cx="1653235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토지 용도간 상관관계 도출, 대지-공장용지 회귀분석</a:t>
            </a:r>
            <a:endParaRPr lang="en-US" sz="13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t="-539" b="-539"/>
          <a:stretch/>
        </p:blipFill>
        <p:spPr>
          <a:xfrm>
            <a:off x="7125005" y="3438144"/>
            <a:ext cx="371246" cy="42885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7572146" y="1604772"/>
            <a:ext cx="1904695" cy="4095598"/>
          </a:xfrm>
          <a:prstGeom prst="roundRect">
            <a:avLst>
              <a:gd name="adj" fmla="val 2880"/>
            </a:avLst>
          </a:prstGeom>
          <a:solidFill>
            <a:srgbClr val="9333EA">
              <a:alpha val="10000"/>
            </a:srgbClr>
          </a:solidFill>
          <a:ln/>
          <a:effectLst>
            <a:outerShdw blurRad="152400" dist="762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6"/>
          <p:cNvSpPr/>
          <p:nvPr/>
        </p:nvSpPr>
        <p:spPr>
          <a:xfrm>
            <a:off x="7572146" y="1604772"/>
            <a:ext cx="1904695" cy="47549"/>
          </a:xfrm>
          <a:prstGeom prst="rect">
            <a:avLst/>
          </a:prstGeom>
          <a:solidFill>
            <a:srgbClr val="9333E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7"/>
          <p:cNvSpPr/>
          <p:nvPr/>
        </p:nvSpPr>
        <p:spPr>
          <a:xfrm>
            <a:off x="8143646" y="1986077"/>
            <a:ext cx="761695" cy="6291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333EA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8"/>
          <p:cNvSpPr txBox="1"/>
          <p:nvPr/>
        </p:nvSpPr>
        <p:spPr>
          <a:xfrm>
            <a:off x="8281845" y="2014423"/>
            <a:ext cx="5148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333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3000" dirty="0"/>
          </a:p>
        </p:txBody>
      </p:sp>
      <p:sp>
        <p:nvSpPr>
          <p:cNvPr id="37" name="Shape 29"/>
          <p:cNvSpPr/>
          <p:nvPr/>
        </p:nvSpPr>
        <p:spPr>
          <a:xfrm>
            <a:off x="8048549" y="2852928"/>
            <a:ext cx="952805" cy="724205"/>
          </a:xfrm>
          <a:prstGeom prst="ellipse">
            <a:avLst/>
          </a:prstGeom>
          <a:solidFill>
            <a:srgbClr val="9333EA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7"/>
          <a:srcRect t="-281" b="-281"/>
          <a:stretch/>
        </p:blipFill>
        <p:spPr>
          <a:xfrm>
            <a:off x="8300923" y="3012948"/>
            <a:ext cx="448056" cy="40050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8072323" y="3839566"/>
            <a:ext cx="10863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 및</a:t>
            </a:r>
            <a:endParaRPr lang="en-US" sz="1800" dirty="0"/>
          </a:p>
        </p:txBody>
      </p:sp>
      <p:sp>
        <p:nvSpPr>
          <p:cNvPr id="40" name="Text 31"/>
          <p:cNvSpPr txBox="1"/>
          <p:nvPr/>
        </p:nvSpPr>
        <p:spPr>
          <a:xfrm>
            <a:off x="7967167" y="4136746"/>
            <a:ext cx="1295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유형화 완료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7743139" y="4595774"/>
            <a:ext cx="1700784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지역별 특성에 따른 유형 분류, 군집별 특징 프로파일링</a:t>
            </a:r>
            <a:endParaRPr lang="en-US" sz="1300" dirty="0"/>
          </a:p>
        </p:txBody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4"/>
          <a:srcRect t="-539" b="-539"/>
          <a:stretch/>
        </p:blipFill>
        <p:spPr>
          <a:xfrm>
            <a:off x="9553651" y="3438144"/>
            <a:ext cx="371246" cy="428854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001707" y="1604772"/>
            <a:ext cx="1904695" cy="4095598"/>
          </a:xfrm>
          <a:prstGeom prst="roundRect">
            <a:avLst>
              <a:gd name="adj" fmla="val 2880"/>
            </a:avLst>
          </a:prstGeom>
          <a:solidFill>
            <a:srgbClr val="E11D48">
              <a:alpha val="10000"/>
            </a:srgbClr>
          </a:solidFill>
          <a:ln/>
          <a:effectLst>
            <a:outerShdw blurRad="152400" dist="762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4"/>
          <p:cNvSpPr/>
          <p:nvPr/>
        </p:nvSpPr>
        <p:spPr>
          <a:xfrm>
            <a:off x="10001707" y="1604772"/>
            <a:ext cx="1904695" cy="47549"/>
          </a:xfrm>
          <a:prstGeom prst="rect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5"/>
          <p:cNvSpPr/>
          <p:nvPr/>
        </p:nvSpPr>
        <p:spPr>
          <a:xfrm>
            <a:off x="10573207" y="1986077"/>
            <a:ext cx="761695" cy="629107"/>
          </a:xfrm>
          <a:prstGeom prst="ellipse">
            <a:avLst/>
          </a:prstGeom>
          <a:solidFill>
            <a:srgbClr val="FFFFFF"/>
          </a:solidFill>
          <a:ln w="38100">
            <a:solidFill>
              <a:srgbClr val="E11D48"/>
            </a:solidFill>
            <a:prstDash val="solid"/>
          </a:ln>
          <a:effectLst>
            <a:outerShdw blurRad="76200" dist="38100" dir="54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6" name="Text 36"/>
          <p:cNvSpPr txBox="1"/>
          <p:nvPr/>
        </p:nvSpPr>
        <p:spPr>
          <a:xfrm>
            <a:off x="10710491" y="2014423"/>
            <a:ext cx="51480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11D4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3000" dirty="0"/>
          </a:p>
        </p:txBody>
      </p:sp>
      <p:sp>
        <p:nvSpPr>
          <p:cNvPr id="47" name="Shape 37"/>
          <p:cNvSpPr/>
          <p:nvPr/>
        </p:nvSpPr>
        <p:spPr>
          <a:xfrm>
            <a:off x="10477195" y="2852928"/>
            <a:ext cx="952805" cy="724205"/>
          </a:xfrm>
          <a:prstGeom prst="ellipse">
            <a:avLst/>
          </a:prstGeom>
          <a:solidFill>
            <a:srgbClr val="E11D48">
              <a:alpha val="2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8"/>
          <a:srcRect l="-685" r="-685"/>
          <a:stretch/>
        </p:blipFill>
        <p:spPr>
          <a:xfrm>
            <a:off x="10801807" y="3012948"/>
            <a:ext cx="304495" cy="400507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10363810" y="3839566"/>
            <a:ext cx="1353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정책 제언 및</a:t>
            </a:r>
            <a:endParaRPr lang="en-US" sz="1800" dirty="0"/>
          </a:p>
        </p:txBody>
      </p:sp>
      <p:sp>
        <p:nvSpPr>
          <p:cNvPr id="50" name="Text 39"/>
          <p:cNvSpPr txBox="1"/>
          <p:nvPr/>
        </p:nvSpPr>
        <p:spPr>
          <a:xfrm>
            <a:off x="10395814" y="4136746"/>
            <a:ext cx="1295705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완성</a:t>
            </a:r>
            <a:endParaRPr lang="en-US" sz="1800" dirty="0"/>
          </a:p>
        </p:txBody>
      </p:sp>
      <p:sp>
        <p:nvSpPr>
          <p:cNvPr id="51" name="Text 40"/>
          <p:cNvSpPr txBox="1"/>
          <p:nvPr/>
        </p:nvSpPr>
        <p:spPr>
          <a:xfrm>
            <a:off x="10148011" y="4595774"/>
            <a:ext cx="1748333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유형별 맞춤 전략 수립, 분석 결과 통합 및 시각화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0" y="0"/>
            <a:ext cx="12191695" cy="1057046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3" name="Text 42"/>
          <p:cNvSpPr txBox="1"/>
          <p:nvPr/>
        </p:nvSpPr>
        <p:spPr>
          <a:xfrm>
            <a:off x="476402" y="295351"/>
            <a:ext cx="4010558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주요 마일스톤</a:t>
            </a:r>
            <a:endParaRPr lang="en-US" sz="3000" dirty="0"/>
          </a:p>
        </p:txBody>
      </p:sp>
      <p:sp>
        <p:nvSpPr>
          <p:cNvPr id="54" name="Shape 43"/>
          <p:cNvSpPr/>
          <p:nvPr/>
        </p:nvSpPr>
        <p:spPr>
          <a:xfrm>
            <a:off x="476402" y="952805"/>
            <a:ext cx="761695" cy="57607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381305" y="256946"/>
            <a:ext cx="30102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위험 요인과 대응 전략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81305" y="833933"/>
            <a:ext cx="571500" cy="47549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381305" y="1110996"/>
            <a:ext cx="56007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6210605" y="3720694"/>
            <a:ext cx="56007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571500" y="1301191"/>
            <a:ext cx="457200" cy="457200"/>
          </a:xfrm>
          <a:prstGeom prst="ellipse">
            <a:avLst/>
          </a:prstGeom>
          <a:solidFill>
            <a:srgbClr val="1E40A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600" b="-600"/>
          <a:stretch/>
        </p:blipFill>
        <p:spPr>
          <a:xfrm>
            <a:off x="709574" y="1424635"/>
            <a:ext cx="181051" cy="20939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0" y="1301191"/>
            <a:ext cx="457200" cy="457200"/>
          </a:xfrm>
          <a:prstGeom prst="ellipse">
            <a:avLst/>
          </a:prstGeom>
          <a:solidFill>
            <a:srgbClr val="1E40A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1162202" y="1387145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품질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571500" y="1901038"/>
            <a:ext cx="3543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지적통계 데이터의 불일치, 결측치, 이상치 발생 가능성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2276856"/>
            <a:ext cx="7699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방안</a:t>
            </a:r>
            <a:endParaRPr lang="en-US" sz="12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2651760"/>
            <a:ext cx="142646" cy="14264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10605" y="1110996"/>
            <a:ext cx="56007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1"/>
          <p:cNvSpPr/>
          <p:nvPr/>
        </p:nvSpPr>
        <p:spPr>
          <a:xfrm>
            <a:off x="571500" y="3910889"/>
            <a:ext cx="457200" cy="457200"/>
          </a:xfrm>
          <a:prstGeom prst="ellipse">
            <a:avLst/>
          </a:prstGeom>
          <a:solidFill>
            <a:srgbClr val="1E40A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6400800" y="3910889"/>
            <a:ext cx="457200" cy="457200"/>
          </a:xfrm>
          <a:prstGeom prst="ellipse">
            <a:avLst/>
          </a:prstGeom>
          <a:solidFill>
            <a:srgbClr val="1E40AF">
              <a:alpha val="10000"/>
            </a:srgb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3"/>
          <p:cNvSpPr txBox="1"/>
          <p:nvPr/>
        </p:nvSpPr>
        <p:spPr>
          <a:xfrm>
            <a:off x="6991502" y="3996842"/>
            <a:ext cx="1200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커뮤니케이션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6400800" y="1901038"/>
            <a:ext cx="37243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복잡성, 분석 과정 난이도 증가로 인한 지연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6400800" y="4510735"/>
            <a:ext cx="32104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팀 내 의사결정 지연, 작업 중복, 피드백 반영 미흡</a:t>
            </a:r>
            <a:endParaRPr lang="en-US" sz="1200" dirty="0"/>
          </a:p>
        </p:txBody>
      </p:sp>
      <p:sp>
        <p:nvSpPr>
          <p:cNvPr id="20" name="Text 16"/>
          <p:cNvSpPr txBox="1"/>
          <p:nvPr/>
        </p:nvSpPr>
        <p:spPr>
          <a:xfrm>
            <a:off x="790956" y="2605126"/>
            <a:ext cx="3363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스키마 자동검증 스크립트 작성 및 품질 게이트 설정</a:t>
            </a:r>
            <a:endParaRPr lang="en-US" sz="12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24244" y="1424635"/>
            <a:ext cx="209398" cy="20939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991502" y="1387145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일정 지연</a:t>
            </a:r>
            <a:endParaRPr 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1162202" y="3996842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분석 복잡도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571500" y="4510735"/>
            <a:ext cx="39154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 결과 불안정, 상관관계 분석 유의성 부족, 시각화 과다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6400800" y="2276856"/>
            <a:ext cx="7699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방안</a:t>
            </a:r>
            <a:endParaRPr lang="en-US" sz="120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2651760"/>
            <a:ext cx="142646" cy="142646"/>
          </a:xfrm>
          <a:prstGeom prst="rect">
            <a:avLst/>
          </a:prstGeom>
        </p:spPr>
      </p:pic>
      <p:sp>
        <p:nvSpPr>
          <p:cNvPr id="27" name="Shape 21"/>
          <p:cNvSpPr/>
          <p:nvPr/>
        </p:nvSpPr>
        <p:spPr>
          <a:xfrm>
            <a:off x="381305" y="3720694"/>
            <a:ext cx="5600700" cy="2381098"/>
          </a:xfrm>
          <a:prstGeom prst="roundRect">
            <a:avLst>
              <a:gd name="adj" fmla="val 1229"/>
            </a:avLst>
          </a:prstGeom>
          <a:solidFill>
            <a:srgbClr val="FFFFFF"/>
          </a:solidFill>
          <a:ln/>
          <a:effectLst>
            <a:outerShdw blurRad="63500" dist="381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2"/>
          <p:cNvSpPr txBox="1"/>
          <p:nvPr/>
        </p:nvSpPr>
        <p:spPr>
          <a:xfrm>
            <a:off x="571500" y="4886554"/>
            <a:ext cx="7699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방안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6620256" y="2605126"/>
            <a:ext cx="3124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주간 점검 및 칸반 보드를 통한 작업 가시성 확보</a:t>
            </a:r>
            <a:endParaRPr lang="en-US" sz="12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94944" y="4034333"/>
            <a:ext cx="209398" cy="209398"/>
          </a:xfrm>
          <a:prstGeom prst="rect">
            <a:avLst/>
          </a:prstGeom>
        </p:spPr>
      </p:pic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71500" y="5261458"/>
            <a:ext cx="142646" cy="142646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90956" y="5215738"/>
            <a:ext cx="3857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 모델보다 단순·명료한 모델 및 핵심 지표 3개 원칙 우선</a:t>
            </a:r>
            <a:endParaRPr lang="en-US" sz="12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rcRect l="-1004" r="-1004"/>
          <a:stretch/>
        </p:blipFill>
        <p:spPr>
          <a:xfrm>
            <a:off x="6495898" y="4034333"/>
            <a:ext cx="267005" cy="209398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6400800" y="4886554"/>
            <a:ext cx="76992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2C55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대응 방안</a:t>
            </a:r>
            <a:endParaRPr lang="en-US" sz="12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00800" y="5261458"/>
            <a:ext cx="142646" cy="142646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6620256" y="5215738"/>
            <a:ext cx="2895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명확한 역할 분담 및 의사결정 프로세스 수립</a:t>
            </a:r>
            <a:endParaRPr lang="en-US" sz="12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E098703D-5F8B-6605-03D6-1D0E8D0B9ACB}"/>
              </a:ext>
            </a:extLst>
          </p:cNvPr>
          <p:cNvSpPr txBox="1"/>
          <p:nvPr/>
        </p:nvSpPr>
        <p:spPr>
          <a:xfrm>
            <a:off x="1162202" y="4000500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</a:rPr>
              <a:t>분석 복잡도</a:t>
            </a:r>
            <a:endParaRPr lang="en-US" sz="1500" dirty="0"/>
          </a:p>
        </p:txBody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6B41F31E-1E2B-50CA-9D5D-50ED331FF404}"/>
              </a:ext>
            </a:extLst>
          </p:cNvPr>
          <p:cNvSpPr txBox="1"/>
          <p:nvPr/>
        </p:nvSpPr>
        <p:spPr>
          <a:xfrm>
            <a:off x="571499" y="4511846"/>
            <a:ext cx="38578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군집화 결과 불안정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상관관계 분석 유의성 부족</a:t>
            </a:r>
            <a:r>
              <a:rPr lang="en-US" altLang="ko-KR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시각화 과다</a:t>
            </a:r>
            <a:r>
              <a:rPr lang="en-US" sz="1200" dirty="0">
                <a:solidFill>
                  <a:srgbClr val="4755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" name="Text 1"/>
          <p:cNvSpPr txBox="1"/>
          <p:nvPr/>
        </p:nvSpPr>
        <p:spPr>
          <a:xfrm>
            <a:off x="237744" y="267005"/>
            <a:ext cx="2391156" cy="381305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21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참고자료 및 팀 구성</a:t>
            </a:r>
            <a:endParaRPr lang="en-US" sz="2100"/>
          </a:p>
        </p:txBody>
      </p:sp>
      <p:sp>
        <p:nvSpPr>
          <p:cNvPr id="4" name="Shape 2"/>
          <p:cNvSpPr/>
          <p:nvPr/>
        </p:nvSpPr>
        <p:spPr>
          <a:xfrm>
            <a:off x="237744" y="775411"/>
            <a:ext cx="571500" cy="47549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507711" y="965606"/>
            <a:ext cx="605333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데이터</a:t>
            </a:r>
            <a:endParaRPr lang="en-US" sz="13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 rotWithShape="1">
          <a:blip r:embed="rId3"/>
          <a:srcRect t="-1100" b="-1100"/>
          <a:stretch>
            <a:fillRect/>
          </a:stretch>
        </p:blipFill>
        <p:spPr>
          <a:xfrm>
            <a:off x="507711" y="1344168"/>
            <a:ext cx="114300" cy="1335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6311" y="1289304"/>
            <a:ext cx="365302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충청북도 지적통계(2025-07-01) - 14개 행정구역, 5개 토지 용도</a:t>
            </a:r>
            <a:endParaRPr lang="en-US" sz="10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07711" y="1607515"/>
            <a:ext cx="133502" cy="1335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07711" y="1939442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분석 도구</a:t>
            </a:r>
            <a:endParaRPr lang="en-US" sz="1300"/>
          </a:p>
        </p:txBody>
      </p:sp>
      <p:sp>
        <p:nvSpPr>
          <p:cNvPr id="10" name="Text 6"/>
          <p:cNvSpPr txBox="1"/>
          <p:nvPr/>
        </p:nvSpPr>
        <p:spPr>
          <a:xfrm>
            <a:off x="507711" y="3610051"/>
            <a:ext cx="652882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팀 구성</a:t>
            </a:r>
            <a:endParaRPr lang="en-US" sz="1300"/>
          </a:p>
        </p:txBody>
      </p:sp>
      <p:sp>
        <p:nvSpPr>
          <p:cNvPr id="11" name="Text 7"/>
          <p:cNvSpPr txBox="1"/>
          <p:nvPr/>
        </p:nvSpPr>
        <p:spPr>
          <a:xfrm>
            <a:off x="736311" y="1552651"/>
            <a:ext cx="2233879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통계청 인구/사업체 통계 (보조 데이터)</a:t>
            </a:r>
            <a:endParaRPr lang="en-US" sz="1000"/>
          </a:p>
        </p:txBody>
      </p:sp>
      <p:sp>
        <p:nvSpPr>
          <p:cNvPr id="12" name="Text 8"/>
          <p:cNvSpPr txBox="1"/>
          <p:nvPr/>
        </p:nvSpPr>
        <p:spPr>
          <a:xfrm>
            <a:off x="736311" y="2959913"/>
            <a:ext cx="2520086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Git/GitHub - 버전 관리 및 코드 리포지토리</a:t>
            </a:r>
            <a:endParaRPr lang="en-US" sz="1000"/>
          </a:p>
        </p:txBody>
      </p:sp>
      <p:sp>
        <p:nvSpPr>
          <p:cNvPr id="13" name="Text 9"/>
          <p:cNvSpPr txBox="1"/>
          <p:nvPr/>
        </p:nvSpPr>
        <p:spPr>
          <a:xfrm>
            <a:off x="736311" y="3223260"/>
            <a:ext cx="1767535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주간 </a:t>
            </a:r>
            <a:r>
              <a:rPr lang="ko-KR" altLang="en-US" sz="100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진행 상황</a:t>
            </a:r>
            <a:r>
              <a:rPr lang="en-US" sz="1000">
                <a:solidFill>
                  <a:srgbClr val="334155"/>
                </a:solidFill>
                <a:latin typeface="Noto Sans KR"/>
                <a:ea typeface="Noto Sans KR"/>
                <a:cs typeface="Noto Sans KR"/>
              </a:rPr>
              <a:t> 공유 및 코드 리뷰</a:t>
            </a:r>
            <a:endParaRPr lang="en-US" sz="1000"/>
          </a:p>
        </p:txBody>
      </p:sp>
      <p:sp>
        <p:nvSpPr>
          <p:cNvPr id="14" name="Shape 10"/>
          <p:cNvSpPr/>
          <p:nvPr/>
        </p:nvSpPr>
        <p:spPr>
          <a:xfrm>
            <a:off x="507711" y="2272284"/>
            <a:ext cx="724205" cy="256946"/>
          </a:xfrm>
          <a:prstGeom prst="roundRect">
            <a:avLst>
              <a:gd name="adj" fmla="val 52722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 rotWithShape="1">
          <a:blip r:embed="rId5"/>
          <a:srcRect t="-1360" b="-1360"/>
          <a:stretch>
            <a:fillRect/>
          </a:stretch>
        </p:blipFill>
        <p:spPr>
          <a:xfrm>
            <a:off x="584521" y="2335378"/>
            <a:ext cx="105156" cy="1234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1304153" y="2272284"/>
            <a:ext cx="752551" cy="256946"/>
          </a:xfrm>
          <a:prstGeom prst="roundRect">
            <a:avLst>
              <a:gd name="adj" fmla="val 52722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17" name="Text 12"/>
          <p:cNvSpPr txBox="1"/>
          <p:nvPr/>
        </p:nvSpPr>
        <p:spPr>
          <a:xfrm>
            <a:off x="736311" y="2301545"/>
            <a:ext cx="512064" cy="18105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Python</a:t>
            </a:r>
            <a:endParaRPr lang="en-US" sz="90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1380963" y="2335378"/>
            <a:ext cx="123444" cy="123444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126199" y="2272284"/>
            <a:ext cx="990295" cy="256946"/>
          </a:xfrm>
          <a:prstGeom prst="roundRect">
            <a:avLst>
              <a:gd name="adj" fmla="val 52722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0" name="Text 14"/>
          <p:cNvSpPr txBox="1"/>
          <p:nvPr/>
        </p:nvSpPr>
        <p:spPr>
          <a:xfrm>
            <a:off x="1551956" y="2301545"/>
            <a:ext cx="522122" cy="18105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Pandas</a:t>
            </a:r>
            <a:endParaRPr lang="en-US" sz="900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2203009" y="2335378"/>
            <a:ext cx="123444" cy="123444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184160" y="2272284"/>
            <a:ext cx="923544" cy="256946"/>
          </a:xfrm>
          <a:prstGeom prst="roundRect">
            <a:avLst>
              <a:gd name="adj" fmla="val 52722"/>
            </a:avLst>
          </a:prstGeom>
          <a:solidFill>
            <a:srgbClr val="3b82f6">
              <a:alpha val="8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23" name="Text 16"/>
          <p:cNvSpPr txBox="1"/>
          <p:nvPr/>
        </p:nvSpPr>
        <p:spPr>
          <a:xfrm>
            <a:off x="2374001" y="2301545"/>
            <a:ext cx="759866" cy="18105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Scikit-learn</a:t>
            </a:r>
            <a:endParaRPr lang="en-US" sz="90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3260969" y="2335378"/>
            <a:ext cx="123444" cy="123444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07711" y="2636215"/>
            <a:ext cx="452628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3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협업</a:t>
            </a:r>
            <a:endParaRPr lang="en-US" sz="1300"/>
          </a:p>
        </p:txBody>
      </p:sp>
      <p:sp>
        <p:nvSpPr>
          <p:cNvPr id="26" name="Text 18"/>
          <p:cNvSpPr txBox="1"/>
          <p:nvPr/>
        </p:nvSpPr>
        <p:spPr>
          <a:xfrm>
            <a:off x="3431962" y="2301545"/>
            <a:ext cx="693115" cy="18105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Matplotlib</a:t>
            </a:r>
            <a:endParaRPr lang="en-US" sz="90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 rotWithShape="1">
          <a:blip r:embed="rId9"/>
          <a:srcRect t="-1100" b="-1100"/>
          <a:stretch>
            <a:fillRect/>
          </a:stretch>
        </p:blipFill>
        <p:spPr>
          <a:xfrm>
            <a:off x="507711" y="3014777"/>
            <a:ext cx="114300" cy="133502"/>
          </a:xfrm>
          <a:prstGeom prst="rect">
            <a:avLst/>
          </a:prstGeom>
        </p:spPr>
      </p:pic>
      <p:pic>
        <p:nvPicPr>
          <p:cNvPr id="28" name="Image 7" descr="preencoded.png"/>
          <p:cNvPicPr>
            <a:picLocks noChangeAspect="1"/>
          </p:cNvPicPr>
          <p:nvPr/>
        </p:nvPicPr>
        <p:blipFill rotWithShape="1">
          <a:blip r:embed="rId10"/>
          <a:srcRect l="-1510" r="-1510"/>
          <a:stretch>
            <a:fillRect/>
          </a:stretch>
        </p:blipFill>
        <p:spPr>
          <a:xfrm>
            <a:off x="507711" y="3278124"/>
            <a:ext cx="171907" cy="133502"/>
          </a:xfrm>
          <a:prstGeom prst="rect">
            <a:avLst/>
          </a:prstGeom>
        </p:spPr>
      </p:pic>
      <p:sp>
        <p:nvSpPr>
          <p:cNvPr id="29" name="Shape 19"/>
          <p:cNvSpPr/>
          <p:nvPr/>
        </p:nvSpPr>
        <p:spPr>
          <a:xfrm>
            <a:off x="507711" y="3942893"/>
            <a:ext cx="7029907" cy="552298"/>
          </a:xfrm>
          <a:prstGeom prst="roundRect">
            <a:avLst>
              <a:gd name="adj" fmla="val 22836"/>
            </a:avLst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0" name="Shape 20"/>
          <p:cNvSpPr/>
          <p:nvPr/>
        </p:nvSpPr>
        <p:spPr>
          <a:xfrm>
            <a:off x="507711" y="4589374"/>
            <a:ext cx="7029907" cy="552298"/>
          </a:xfrm>
          <a:prstGeom prst="roundRect">
            <a:avLst>
              <a:gd name="adj" fmla="val 22836"/>
            </a:avLst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1" name="Shape 21"/>
          <p:cNvSpPr/>
          <p:nvPr/>
        </p:nvSpPr>
        <p:spPr>
          <a:xfrm>
            <a:off x="603723" y="4047134"/>
            <a:ext cx="342900" cy="3429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2" name="Shape 22"/>
          <p:cNvSpPr/>
          <p:nvPr/>
        </p:nvSpPr>
        <p:spPr>
          <a:xfrm>
            <a:off x="603723" y="4692701"/>
            <a:ext cx="342900" cy="3429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33" name="Text 23"/>
          <p:cNvSpPr txBox="1"/>
          <p:nvPr/>
        </p:nvSpPr>
        <p:spPr>
          <a:xfrm>
            <a:off x="713451" y="4124858"/>
            <a:ext cx="22402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</a:t>
            </a:r>
            <a:endParaRPr lang="en-US" sz="1000"/>
          </a:p>
        </p:txBody>
      </p:sp>
      <p:sp>
        <p:nvSpPr>
          <p:cNvPr id="34" name="Text 24"/>
          <p:cNvSpPr txBox="1"/>
          <p:nvPr/>
        </p:nvSpPr>
        <p:spPr>
          <a:xfrm>
            <a:off x="713451" y="4770425"/>
            <a:ext cx="22402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남</a:t>
            </a:r>
            <a:endParaRPr lang="en-US" sz="1000"/>
          </a:p>
        </p:txBody>
      </p:sp>
      <p:sp>
        <p:nvSpPr>
          <p:cNvPr id="35" name="Text 25"/>
          <p:cNvSpPr txBox="1"/>
          <p:nvPr/>
        </p:nvSpPr>
        <p:spPr>
          <a:xfrm>
            <a:off x="1060923" y="4028846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이일주</a:t>
            </a:r>
            <a:endParaRPr lang="en-US" sz="1000"/>
          </a:p>
        </p:txBody>
      </p:sp>
      <p:sp>
        <p:nvSpPr>
          <p:cNvPr id="36" name="Text 26"/>
          <p:cNvSpPr txBox="1"/>
          <p:nvPr/>
        </p:nvSpPr>
        <p:spPr>
          <a:xfrm>
            <a:off x="1060923" y="4674413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남기현</a:t>
            </a:r>
            <a:endParaRPr lang="en-US" sz="1000"/>
          </a:p>
        </p:txBody>
      </p:sp>
      <p:sp>
        <p:nvSpPr>
          <p:cNvPr id="37" name="Text 27"/>
          <p:cNvSpPr txBox="1"/>
          <p:nvPr/>
        </p:nvSpPr>
        <p:spPr>
          <a:xfrm>
            <a:off x="1060923" y="4215384"/>
            <a:ext cx="1313078" cy="174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데이터 수집</a:t>
            </a:r>
            <a:r>
              <a:rPr lang="en-US" altLang="ko-KR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전처리</a:t>
            </a:r>
            <a:endParaRPr lang="ko-KR" altLang="en-US" sz="90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8" name="Text 28"/>
          <p:cNvSpPr txBox="1"/>
          <p:nvPr/>
        </p:nvSpPr>
        <p:spPr>
          <a:xfrm>
            <a:off x="1060923" y="4860950"/>
            <a:ext cx="1207922" cy="18105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상관분석</a:t>
            </a:r>
            <a:r>
              <a:rPr lang="en-US" altLang="ko-KR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,</a:t>
            </a:r>
            <a:r>
              <a:rPr lang="ko-KR" alt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 시각화</a:t>
            </a:r>
            <a:endParaRPr lang="ko-KR" altLang="en-US" sz="90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8" name="Shape 19"/>
          <p:cNvSpPr/>
          <p:nvPr/>
        </p:nvSpPr>
        <p:spPr>
          <a:xfrm>
            <a:off x="507711" y="5236108"/>
            <a:ext cx="7029907" cy="552298"/>
          </a:xfrm>
          <a:prstGeom prst="roundRect">
            <a:avLst>
              <a:gd name="adj" fmla="val 22836"/>
            </a:avLst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9" name="Shape 20"/>
          <p:cNvSpPr/>
          <p:nvPr/>
        </p:nvSpPr>
        <p:spPr>
          <a:xfrm>
            <a:off x="507711" y="5882589"/>
            <a:ext cx="7029907" cy="552298"/>
          </a:xfrm>
          <a:prstGeom prst="roundRect">
            <a:avLst>
              <a:gd name="adj" fmla="val 22836"/>
            </a:avLst>
          </a:prstGeom>
          <a:solidFill>
            <a:srgbClr val="3b82f6">
              <a:alpha val="5000"/>
            </a:srgbClr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0" name="Shape 21"/>
          <p:cNvSpPr/>
          <p:nvPr/>
        </p:nvSpPr>
        <p:spPr>
          <a:xfrm>
            <a:off x="603723" y="5340349"/>
            <a:ext cx="342900" cy="3429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1" name="Shape 22"/>
          <p:cNvSpPr/>
          <p:nvPr/>
        </p:nvSpPr>
        <p:spPr>
          <a:xfrm>
            <a:off x="603723" y="5985916"/>
            <a:ext cx="342900" cy="342900"/>
          </a:xfrm>
          <a:prstGeom prst="ellipse">
            <a:avLst/>
          </a:prstGeom>
          <a:solidFill>
            <a:srgbClr val="1e40af"/>
          </a:solidFill>
          <a:ln/>
        </p:spPr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2" name="Text 23"/>
          <p:cNvSpPr txBox="1"/>
          <p:nvPr/>
        </p:nvSpPr>
        <p:spPr>
          <a:xfrm>
            <a:off x="713451" y="5418073"/>
            <a:ext cx="22402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</a:t>
            </a:r>
            <a:endParaRPr lang="ko-KR" altLang="en-US" sz="1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3" name="Text 24"/>
          <p:cNvSpPr txBox="1"/>
          <p:nvPr/>
        </p:nvSpPr>
        <p:spPr>
          <a:xfrm>
            <a:off x="713451" y="6063640"/>
            <a:ext cx="22402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0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</a:t>
            </a:r>
            <a:endParaRPr lang="ko-KR" altLang="en-US" sz="1000" b="1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4" name="Text 25"/>
          <p:cNvSpPr txBox="1"/>
          <p:nvPr/>
        </p:nvSpPr>
        <p:spPr>
          <a:xfrm>
            <a:off x="1060923" y="5322061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0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박성혁</a:t>
            </a:r>
            <a:endParaRPr lang="ko-KR" altLang="en-US" sz="1000" b="1">
              <a:solidFill>
                <a:srgbClr val="1e40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5" name="Text 26"/>
          <p:cNvSpPr txBox="1"/>
          <p:nvPr/>
        </p:nvSpPr>
        <p:spPr>
          <a:xfrm>
            <a:off x="1060923" y="5967628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1000" b="1">
                <a:solidFill>
                  <a:srgbClr val="1e40af"/>
                </a:solidFill>
                <a:latin typeface="Noto Sans KR"/>
                <a:ea typeface="Noto Sans KR"/>
                <a:cs typeface="Noto Sans KR"/>
              </a:rPr>
              <a:t>이소현</a:t>
            </a:r>
            <a:endParaRPr lang="ko-KR" altLang="en-US" sz="1000" b="1">
              <a:solidFill>
                <a:srgbClr val="1e40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6" name="Text 27"/>
          <p:cNvSpPr txBox="1"/>
          <p:nvPr/>
        </p:nvSpPr>
        <p:spPr>
          <a:xfrm>
            <a:off x="1060923" y="5508599"/>
            <a:ext cx="1313078" cy="17465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en-US" altLang="ko-KR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PCA, KMeans </a:t>
            </a:r>
            <a:r>
              <a:rPr lang="ko-KR" alt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모델링</a:t>
            </a:r>
            <a:endParaRPr lang="ko-KR" altLang="en-US" sz="90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57" name="Text 28"/>
          <p:cNvSpPr txBox="1"/>
          <p:nvPr/>
        </p:nvSpPr>
        <p:spPr>
          <a:xfrm>
            <a:off x="1060923" y="6154165"/>
            <a:ext cx="1207922" cy="181051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indent="0" algn="l">
              <a:buNone/>
              <a:defRPr/>
            </a:pPr>
            <a:r>
              <a:rPr lang="ko-KR" altLang="en-US" sz="900">
                <a:solidFill>
                  <a:srgbClr val="475569"/>
                </a:solidFill>
                <a:latin typeface="Noto Sans KR"/>
                <a:ea typeface="Noto Sans KR"/>
                <a:cs typeface="Noto Sans KR"/>
              </a:rPr>
              <a:t>보고서 작성</a:t>
            </a:r>
            <a:endParaRPr lang="ko-KR" altLang="en-US" sz="900">
              <a:solidFill>
                <a:srgbClr val="475569"/>
              </a:solidFill>
              <a:latin typeface="Noto Sans KR"/>
              <a:ea typeface="Noto Sans KR"/>
              <a:cs typeface="Noto Sans KR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Generated by Gen-Spark</ep:Company>
  <ep:Words>823</ep:Words>
  <ep:PresentationFormat>와이드스크린</ep:PresentationFormat>
  <ep:Paragraphs>180</ep:Paragraphs>
  <ep:Slides>10</ep:Slides>
  <ep:Notes>10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2025-11-10T07:19:54.000</dcterms:created>
  <dc:creator>Visual Extract to PPTX Converter</dc:creator>
  <cp:lastModifiedBy>khnam</cp:lastModifiedBy>
  <dcterms:modified xsi:type="dcterms:W3CDTF">2025-11-13T09:25:43.973</dcterms:modified>
  <cp:revision>8</cp:revision>
  <dc:subject>PptxGenJS Presentation</dc:subject>
  <dc:title>Multi-page HTML Content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